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 ID Red Teaming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9436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Initial Access Vectors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3154680"/>
            <a:ext cx="2286000" cy="2743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Workshop  |  60 Minutes  |  Senior Red Team Audience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489204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47472" cy="34747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61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 ID Mental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362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primitives, token hierarchy, trust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655064"/>
            <a:ext cx="68580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55648"/>
            <a:ext cx="347472" cy="34747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7282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709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Surface 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1929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for attackers — services, roles, permissions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2221992"/>
            <a:ext cx="68580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322576"/>
            <a:ext cx="347472" cy="34747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2951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276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24963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tenant discovery and user enumeration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2788920"/>
            <a:ext cx="68580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9504"/>
            <a:ext cx="347472" cy="34747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28620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43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Access Vectors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920240" y="3063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code, AiTM, consent grants, PRT phishing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3355848"/>
            <a:ext cx="68580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456432"/>
            <a:ext cx="347472" cy="347472"/>
          </a:xfrm>
          <a:prstGeom prst="ellipse">
            <a:avLst/>
          </a:prstGeom>
          <a:solidFill>
            <a:srgbClr val="FEF0E4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Post-Access Enumeration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20240" y="3630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ROADtools, GraphRunner, BloodHound — first 5 minutes after foothold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0" y="3922776"/>
            <a:ext cx="68580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023360"/>
            <a:ext cx="347472" cy="347472"/>
          </a:xfrm>
          <a:prstGeom prst="ellipse">
            <a:avLst/>
          </a:prstGeom>
          <a:solidFill>
            <a:srgbClr val="FEF0E4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97280" y="39959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2024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OPSEC &amp; Detection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920240" y="41970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defenders see for each technique, and what they miss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demos use lab environments with authorized test tenants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 ID for Attackers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is the identity control plane for the entire Microsoft ecosystem.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Entra  =  compromise everything downstream.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901952" cy="21031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783080"/>
            <a:ext cx="1901952" cy="4572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4688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28803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identities.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group membership,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assignments.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33472" y="1783080"/>
            <a:ext cx="1901952" cy="21031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33472" y="1783080"/>
            <a:ext cx="1901952" cy="4572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9659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70632" y="24688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770632" y="28803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Non-human identities.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permissions.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overprivileged.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18304" y="1783080"/>
            <a:ext cx="1901952" cy="21031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18304" y="1783080"/>
            <a:ext cx="1901952" cy="4572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9659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55464" y="24688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Identities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55464" y="28803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Azure-resource-bound.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or User assigned.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credentials.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803136" y="1783080"/>
            <a:ext cx="1901952" cy="21031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803136" y="1783080"/>
            <a:ext cx="1901952" cy="4572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96596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40296" y="24688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940296" y="28803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Dynamic.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rules use 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(controllable).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28" name="Text 21"/>
          <p:cNvSpPr/>
          <p:nvPr/>
        </p:nvSpPr>
        <p:spPr>
          <a:xfrm>
            <a:off x="731520" y="41330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Service Principals are the most undermonitored and overprivileged identity type in most tenants.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Shape 2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Text 24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 =  Azure AD (renamed May 2023). Same protocols, same attack surface.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Hierarchy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97280"/>
            <a:ext cx="5029200" cy="86868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Token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Lifetime: </a:t>
            </a:r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</a:t>
            </a:r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Scope: </a:t>
            </a:r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resource, limited scope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8056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194560"/>
            <a:ext cx="5029200" cy="86868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Refresh Token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2578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Lifetime: </a:t>
            </a:r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 days</a:t>
            </a:r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Scope: </a:t>
            </a:r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mint new access tokens for its resource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8056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291840"/>
            <a:ext cx="5029200" cy="868680"/>
          </a:xfrm>
          <a:prstGeom prst="rect">
            <a:avLst/>
          </a:prstGeom>
          <a:solidFill>
            <a:srgbClr val="FEF0E4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291840"/>
            <a:ext cx="54864" cy="86868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Refresh Token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3675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Lifetime: </a:t>
            </a:r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days, renewable</a:t>
            </a:r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Scope: </a:t>
            </a:r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to ALL M365 apps. TPM-bound on Windows.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48056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1097280"/>
            <a:ext cx="2834640" cy="3108960"/>
          </a:xfrm>
          <a:prstGeom prst="rect">
            <a:avLst/>
          </a:prstGeom>
          <a:solidFill>
            <a:srgbClr val="FFF8F3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0" y="1097280"/>
            <a:ext cx="2834640" cy="4572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PRT matters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26480" y="169164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cookie for every M365 service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MFA (device already enrolled)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TPM-bound (hardware extraction)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Software-only (extractable)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PRT = full user impersonation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PRT cookie works in any browser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31596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goal: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upgrade token scope. Access Token → Refresh Token → PRT → Global Admin session.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Dirk-jan Mollema — PRT internals (2020), PRT phishing (2023), macOS PRT extraction (2024)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Reconnaissance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unauthenticated. No credentials required. No logs generated.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8046720" cy="6858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99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Discovery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834640" y="149961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Invoke-AADIntReconAsOutsider -DomainName "target.com"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834640" y="18105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ID, name, brand, auth type, SSO endpoints, registered domains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267712"/>
            <a:ext cx="80467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Enumeration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834640" y="23042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Invoke-AADIntUserEnumerationAsOutsider -UserName "admin@target.com"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834640" y="26151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Valid/invalid user differentiation via response code timing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072384"/>
            <a:ext cx="8046720" cy="6858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Subdomain Enum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3464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Invoke-EnumerateAzureSubDomains -Base "target" -Verbose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834640" y="34198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storage, vaults, app services, databases, mail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877056"/>
            <a:ext cx="80467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OpenID Config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834640" y="39136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/.well-known/openid-configuration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834640" y="42245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endpoints, issuer, supported flows, tenant metadata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AADInternals (recon module), MicroBurst (subdomain enum)  |  Zero log footprint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Access Decision Tree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technique based on recon findings. Not all vectors apply to every target.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 FINDING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1752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TOOL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STEALTH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1783080"/>
            <a:ext cx="804672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830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auth, no strong CA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017520" y="17830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Spray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17830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TeamFiltration, TREVORspray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06640" y="17830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221992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2219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auth with MFA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017520" y="22219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Code Phishing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22219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GraphRunner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06640" y="22219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2660904"/>
            <a:ext cx="804672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26609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auth (ADFS, Okta)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017520" y="26609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AiTM Proxy (Evilginx)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20640" y="26609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Evilginx → ROADtools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06640" y="266090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099816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3099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consent not restricted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017520" y="30998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Illicit Consent Grant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120640" y="309981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app + phishing URL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406640" y="30998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" y="3538728"/>
            <a:ext cx="8046720" cy="402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35387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uses first-party apps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017520" y="3538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ConsentFix (2025)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20640" y="35387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 authcode interception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406640" y="35387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640" y="3977640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— upgrade token quality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017520" y="3977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Phishing (Mollema)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120640" y="39776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ROADtools roadtx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406640" y="39776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" y="4480560"/>
            <a:ext cx="8046720" cy="22860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43" name="Text 40"/>
          <p:cNvSpPr/>
          <p:nvPr/>
        </p:nvSpPr>
        <p:spPr>
          <a:xfrm>
            <a:off x="731520" y="44805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stealth = blends with legitimate authentication flows. Detection requires specific monitoring rules.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Shape 42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6" name="Text 43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selection is driven by OSINT findings — not tool preference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Code Phishing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56032" cy="25603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requests a device code from Entra 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892808"/>
            <a:ext cx="256032" cy="25603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" y="1865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URL sent to victim via phishing email or Teams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276856"/>
            <a:ext cx="256032" cy="25603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2249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authenticates at microsoft.com/devicelogin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660904"/>
            <a:ext cx="256032" cy="25603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0120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completes MFA (normal flow from their perspective)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044952"/>
            <a:ext cx="256032" cy="25603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receives access token + refresh token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429000"/>
            <a:ext cx="256032" cy="256032"/>
          </a:xfrm>
          <a:prstGeom prst="ellipse">
            <a:avLst/>
          </a:prstGeom>
          <a:solidFill>
            <a:srgbClr val="E8651A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0120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grant access as the victim user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0" y="1051560"/>
            <a:ext cx="3749040" cy="33832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212080" y="1143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12080" y="146304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Import-Module .\GraphRunner.ps1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Generate device code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Get-GraphTokens -Device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Victim authenticates...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 receive tokens automatically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Check what we got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Invoke-GraphRecon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-Tokens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$tokens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-PermissionEnum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Dump Conditional Access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Invoke-DumpCAPS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-Tokens $tokens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42702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logs show authMethod = "Device Code", source IP, and client app ID. Most SOCs do not alert on this.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Shape 28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GraphRunner (Black Hills)  |  MITRE: T1566.002 Phishing: Spearphishing Link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AiTM Phishing &amp; Consent Attacks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51560"/>
            <a:ext cx="3794760" cy="310896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51560"/>
            <a:ext cx="3794760" cy="4572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88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Adversary-in-the-Middle (Evilginx)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60020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between victim and real login page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session cookies + tokens post-MFA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sees real Microsoft login — no visual difference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stolen cookies to ROADtools roadtx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chain: Bobber monitors Evilginx DB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Protection (if enforced) blocks replay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023360" cy="310896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4023360" cy="4572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OAuth Consent Attacks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6002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multi-tenant app with desired permissions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OAuth consent URL targeting victim user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grants consent — no credentials stolen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now acts on behalf of user (delegated perms)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MFA entirely (OAuth flow, not sign-in)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ConsentFix (2025): Exploits first-party app trust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251960"/>
            <a:ext cx="3794760" cy="41148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2702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Protection + block unknown platforms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4251960"/>
            <a:ext cx="4023360" cy="41148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4270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Consent Workflow + restrict unverified apps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AiTM: MITRE T1557  |  Consent: MITRE T1528 Steal Application Access Token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PRT Phishing &amp; The Triforce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51560"/>
            <a:ext cx="3931920" cy="2286000"/>
          </a:xfrm>
          <a:prstGeom prst="rect">
            <a:avLst/>
          </a:prstGeom>
          <a:solidFill>
            <a:srgbClr val="FFF8F3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51560"/>
            <a:ext cx="54864" cy="228600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PRT Phishing (Mollema 2023)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1463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phishing gives you limited-scope tokens.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phishing upgrades to the most powerful token type.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19659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user into authenticating device code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tokens to register a device in Entra ID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PRT for the registered device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WHfB key for phishing-resistant persistence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023360" cy="228600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4023360" cy="4572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Triforce (TrustedSec)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initial access chain: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Evilginx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Captures session cookie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Bobber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Monitors DB, auto-triggers on capture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0" y="2450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ROADtools roadtx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Exchanges cookie for tokens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2816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5E5"/>
                </a:solidFill>
              </a:rPr>
              <a:t>↓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TeamFiltration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Exfiltrates mail, Teams, OneDrive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8046720" cy="82296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phishing produces tokens that satisfy even strict Conditional Access policies including compliant device requirements. </a:t>
            </a:r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WHfB key deployment creates persistence that survives password reset and satisfies phishing-resistant MFA.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dirkjanm.io/phishing-for-microsoft-entra-primary-refresh-tokens  |  trustedsec.com/blog/the-triforce-of-initial-access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5 Minutes After Foothold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51560"/>
            <a:ext cx="3931920" cy="3429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ROADtools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4630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Authenticate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roadtx gettoken \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--refresh-token "$RT"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Dump entire tenant to SQLite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roadrecon dump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web GUI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roadrecon-gui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Browse: Users, Apps, SPs, Groups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Look for: high-priv SPs, dynamic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rules, Entra Connect accounts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023360" cy="3429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GraphRunner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14630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Access policies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Invoke-DumpCAPS -Tokens $t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Dynamic groups (attribute abuse)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Get-DynamicGroups -Tokens $t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Groups we can modify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Get-UpdatableGroups -Tokens $t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Readable mailboxes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Invoke-GraphOpenInboxFinder \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-Tokens $t -Userlist users.txt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ROADrecon first — it captures data not available via public MS Graph API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OPSEC &amp; Detection Surface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2103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YOUR ACTION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DEFENDERS SEE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DETECTION LIKELIHOOD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Tenant recon (AADInternals)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Nothing — unauthenticated, no logs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Device code phishing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Sign-in: authMethod=DeviceCode, IP, client 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</a:rPr>
                        <a:t>Low-Medium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AiTM / Evilginx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Sign-in from anomalous IP, token replay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</a:rPr>
                        <a:t>Medium (if Token Protection off)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Consent grant phishing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Audit: Consent to application, scope list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</a:rPr>
                        <a:t>Low (if no consent workflow)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ROADrecon dump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Burst of Graph API calls in non-interactive logs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</a:rPr>
                        <a:t>Low-Medium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GraphRunner enumeration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Targeted Graph API calls, lower volume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PRT cookie forging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Device-based auth from unexpected IP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8A"/>
                          </a:solidFill>
                        </a:rPr>
                        <a:t>Low (hard to correlate)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</a:rPr>
                        <a:t>SP credential addition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Audit: Add service principal credentials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651A"/>
                          </a:solidFill>
                        </a:rPr>
                        <a:t>High (critical signal)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FEF0E4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1788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takeaway: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 techniques are mostly low-detection. The escalation phase (SP credential changes, federation config) is where you get caught. Front-load your OPSEC planning for post-access actions.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detection queries available in workshop handout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1280160" cy="36576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88136"/>
            <a:ext cx="54864" cy="34747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51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 ID is identity-first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12893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scope determines your access. Always upgrade: AT → RT → PRT.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54864" cy="34747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636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 is invisible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8013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discovery and user enumeration generate zero logs.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112264"/>
            <a:ext cx="54864" cy="34747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075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code phishing works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2313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OAuth flow. Most SOCs don't alert on it.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624328"/>
            <a:ext cx="54864" cy="34747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5877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PRT is the crown jewel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28254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SSO, satisfies MFA, works cross-application.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136392"/>
            <a:ext cx="54864" cy="34747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099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 attacks bypass MFA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7240" y="3337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consent grants access without credential theft.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648456"/>
            <a:ext cx="54864" cy="347472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611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gaps favor attackers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7240" y="3849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 is low-detection. Escalation is where you get caught.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1051560"/>
            <a:ext cx="4023360" cy="347472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1051560"/>
            <a:ext cx="4023360" cy="45720"/>
          </a:xfrm>
          <a:prstGeom prst="rect">
            <a:avLst/>
          </a:prstGeom>
          <a:solidFill>
            <a:srgbClr val="E8651A"/>
          </a:solidFill>
          <a:ln/>
        </p:spPr>
      </p:sp>
      <p:sp>
        <p:nvSpPr>
          <p:cNvPr id="26" name="Text 23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Resources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dirkjanm.io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PRT, tokens, Cloud Kerberos Trust, BYO IdP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3776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AzureAD-Attack-Defense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Attack/defense playbook with KQL queries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37760" y="2386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ROADtools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enumeration framework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37760" y="2779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GraphRunner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Graph post-exploitation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93776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InternalAllTheThings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command cheatsheet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9377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TrustedSec Triforce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initial access chain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937760" y="3959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Stratus Red Team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purple team validation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2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workshop guide with demo scripts, lab setup, and KQL queries available as companion document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503920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 ID Red Teaming Workshop</dc:title>
  <dc:subject>PptxGenJS Presentation</dc:subject>
  <dc:creator>Red Team Workshop</dc:creator>
  <cp:lastModifiedBy>Red Team Workshop</cp:lastModifiedBy>
  <cp:revision>1</cp:revision>
  <dcterms:created xsi:type="dcterms:W3CDTF">2026-03-18T14:04:57Z</dcterms:created>
  <dcterms:modified xsi:type="dcterms:W3CDTF">2026-03-18T14:04:57Z</dcterms:modified>
</cp:coreProperties>
</file>